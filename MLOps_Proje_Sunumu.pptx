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1B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194560"/>
            <a:ext cx="12191695" cy="73152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377440"/>
            <a:ext cx="103327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800" b="1" i="0">
                <a:solidFill>
                  <a:srgbClr val="FFFFFF"/>
                </a:solidFill>
                <a:latin typeface="Calibri"/>
              </a:rPr>
              <a:t>Kubernetes + CI/CD + GitOps + Monitoring ile</a:t>
            </a:r>
          </a:p>
          <a:p>
            <a:pPr algn="ctr"/>
            <a:r>
              <a:rPr sz="3800" b="1" i="0">
                <a:solidFill>
                  <a:srgbClr val="FFFFFF"/>
                </a:solidFill>
                <a:latin typeface="Calibri"/>
              </a:rPr>
              <a:t>Uçtan Uca ML Model Servisi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023360"/>
            <a:ext cx="103327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0" i="1">
                <a:solidFill>
                  <a:srgbClr val="9FB4D8"/>
                </a:solidFill>
                <a:latin typeface="Calibri"/>
              </a:rPr>
              <a:t>MLOps Bitirme Projesi — Infra &amp; Deployment Odaklı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029200"/>
            <a:ext cx="103327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Hazırlayan: ONUR GÜRBÜZ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852160"/>
            <a:ext cx="103327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 i="0">
                <a:solidFill>
                  <a:srgbClr val="555555"/>
                </a:solidFill>
                <a:latin typeface="Calibri"/>
              </a:rPr>
              <a:t>Büyük Dil Modelleri ve Kurumsal Zeka  |  Temmuz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00584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Proje Hedefi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164592"/>
            <a:ext cx="8229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600" b="1" i="0">
                <a:solidFill>
                  <a:srgbClr val="BBCCEE"/>
                </a:solidFill>
                <a:latin typeface="Calibri"/>
              </a:rPr>
              <a:t>01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63040"/>
            <a:ext cx="11064240" cy="1371600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91640"/>
            <a:ext cx="1033272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 i="0">
                <a:solidFill>
                  <a:srgbClr val="1F4E79"/>
                </a:solidFill>
                <a:latin typeface="Calibri"/>
              </a:rPr>
              <a:t>“Model yaptım” değil,</a:t>
            </a:r>
          </a:p>
          <a:p>
            <a:pPr algn="ctr"/>
            <a:r>
              <a:rPr sz="2400" b="1" i="0">
                <a:solidFill>
                  <a:srgbClr val="1F4E79"/>
                </a:solidFill>
                <a:latin typeface="Calibri"/>
              </a:rPr>
              <a:t>“Modeli uçtan uca çalışır hale getirdim.”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200400"/>
            <a:ext cx="1051560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000">
                <a:solidFill>
                  <a:srgbClr val="1B1B2F"/>
                </a:solidFill>
                <a:latin typeface="Calibri"/>
              </a:rPr>
              <a:t>•  Odak: ML modelin kendisi değil — INFRA &amp; DEPLOYMENT süreci.</a:t>
            </a:r>
          </a:p>
          <a:p>
            <a:pPr>
              <a:spcAft>
                <a:spcPts val="1400"/>
              </a:spcAft>
            </a:pPr>
            <a:r>
              <a:rPr sz="2000">
                <a:solidFill>
                  <a:srgbClr val="1B1B2F"/>
                </a:solidFill>
                <a:latin typeface="Calibri"/>
              </a:rPr>
              <a:t>•  Çalışan, canlı (deploy edilmiş) bir proje sunmak.</a:t>
            </a:r>
          </a:p>
          <a:p>
            <a:pPr>
              <a:spcAft>
                <a:spcPts val="1400"/>
              </a:spcAft>
            </a:pPr>
            <a:r>
              <a:rPr sz="2000">
                <a:solidFill>
                  <a:srgbClr val="1B1B2F"/>
                </a:solidFill>
                <a:latin typeface="Calibri"/>
              </a:rPr>
              <a:t>•  Docker, Kubernetes, API (FastAPI) ve veritabanı entegrasyonu.</a:t>
            </a:r>
          </a:p>
          <a:p>
            <a:pPr>
              <a:spcAft>
                <a:spcPts val="1400"/>
              </a:spcAft>
            </a:pPr>
            <a:r>
              <a:rPr sz="2000">
                <a:solidFill>
                  <a:srgbClr val="1B1B2F"/>
                </a:solidFill>
                <a:latin typeface="Calibri"/>
              </a:rPr>
              <a:t>•  Üst seviye eklentiler: CI/CD, GitOps ve Monitoring.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00584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Sistem Mimarisi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164592"/>
            <a:ext cx="8229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600" b="1" i="0">
                <a:solidFill>
                  <a:srgbClr val="BBCCEE"/>
                </a:solidFill>
                <a:latin typeface="Calibri"/>
              </a:rPr>
              <a:t>02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371600"/>
            <a:ext cx="3108960" cy="822960"/>
          </a:xfrm>
          <a:prstGeom prst="rect">
            <a:avLst/>
          </a:prstGeom>
          <a:solidFill>
            <a:srgbClr val="3333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310896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GitHub Repo</a:t>
            </a:r>
          </a:p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(kod, Dockerfile, k8s/)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651760"/>
            <a:ext cx="3108960" cy="822960"/>
          </a:xfrm>
          <a:prstGeom prst="rect">
            <a:avLst/>
          </a:prstGeom>
          <a:solidFill>
            <a:srgbClr val="2B57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651760"/>
            <a:ext cx="310896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GitHub Actions CI/CD</a:t>
            </a:r>
          </a:p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lint → build → push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3931920"/>
            <a:ext cx="3108960" cy="822960"/>
          </a:xfrm>
          <a:prstGeom prst="rect">
            <a:avLst/>
          </a:prstGeom>
          <a:solidFill>
            <a:srgbClr val="0D6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931920"/>
            <a:ext cx="310896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GHCR</a:t>
            </a:r>
          </a:p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(GitHub Container Registry)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06240" y="1280160"/>
            <a:ext cx="7406640" cy="4937760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06240" y="1371600"/>
            <a:ext cx="7406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 i="0">
                <a:solidFill>
                  <a:srgbClr val="1F4E79"/>
                </a:solidFill>
                <a:latin typeface="Calibri"/>
              </a:rPr>
              <a:t>Docker Desktop Kubernetes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480560" y="2011680"/>
            <a:ext cx="2194560" cy="822960"/>
          </a:xfrm>
          <a:prstGeom prst="rect">
            <a:avLst/>
          </a:prstGeom>
          <a:solidFill>
            <a:srgbClr val="2E8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80560" y="2011680"/>
            <a:ext cx="219456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ArgoCD</a:t>
            </a:r>
          </a:p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(GitOps sync)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040880" y="2011680"/>
            <a:ext cx="2194560" cy="82296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040880" y="2011680"/>
            <a:ext cx="219456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FastAPI</a:t>
            </a:r>
          </a:p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(3 pod)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509760" y="2011680"/>
            <a:ext cx="1828800" cy="82296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509760" y="2011680"/>
            <a:ext cx="18288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Prometheus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040880" y="3383280"/>
            <a:ext cx="2194560" cy="822960"/>
          </a:xfrm>
          <a:prstGeom prst="rect">
            <a:avLst/>
          </a:prstGeom>
          <a:solidFill>
            <a:srgbClr val="3366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040880" y="3383280"/>
            <a:ext cx="219456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PostgreSQL</a:t>
            </a:r>
          </a:p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(PVC)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509760" y="3383280"/>
            <a:ext cx="1828800" cy="822960"/>
          </a:xfrm>
          <a:prstGeom prst="rect">
            <a:avLst/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509760" y="3383280"/>
            <a:ext cx="18288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Grafana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80560" y="4663440"/>
            <a:ext cx="694944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555555"/>
                </a:solidFill>
                <a:latin typeface="Calibri"/>
              </a:rPr>
              <a:t>• CI imajı üretir, k8s manifest tag'ini günceller (commit back)</a:t>
            </a:r>
          </a:p>
          <a:p>
            <a:pPr algn="l"/>
            <a:r>
              <a:rPr sz="1300" b="0" i="0">
                <a:solidFill>
                  <a:srgbClr val="555555"/>
                </a:solidFill>
                <a:latin typeface="Calibri"/>
              </a:rPr>
              <a:t>• ArgoCD k8s/ klasörünü izler ve kümeye sürekli senkron eder</a:t>
            </a:r>
          </a:p>
          <a:p>
            <a:pPr algn="l"/>
            <a:r>
              <a:rPr sz="1300" b="0" i="0">
                <a:solidFill>
                  <a:srgbClr val="555555"/>
                </a:solidFill>
                <a:latin typeface="Calibri"/>
              </a:rPr>
              <a:t>• FastAPI tahminleri PostgreSQL'e yazar</a:t>
            </a:r>
          </a:p>
          <a:p>
            <a:pPr algn="l"/>
            <a:r>
              <a:rPr sz="1300" b="0" i="0">
                <a:solidFill>
                  <a:srgbClr val="555555"/>
                </a:solidFill>
                <a:latin typeface="Calibri"/>
              </a:rPr>
              <a:t>• Prometheus /metrics ucunu tarar, Grafana görselleştirir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00584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Uygulama Katmanı — FastAPI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164592"/>
            <a:ext cx="8229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600" b="1" i="0">
                <a:solidFill>
                  <a:srgbClr val="BBCCEE"/>
                </a:solidFill>
                <a:latin typeface="Calibri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800">
                <a:solidFill>
                  <a:srgbClr val="1B1B2F"/>
                </a:solidFill>
                <a:latin typeface="Calibri"/>
              </a:rPr>
              <a:t>•  Tek FastAPI servisi, üç ML/AI ucu + sağlık &amp; metrik uçları: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2103120"/>
            <a:ext cx="10972800" cy="6217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103120"/>
            <a:ext cx="420624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 i="0">
                <a:solidFill>
                  <a:srgbClr val="1F4E79"/>
                </a:solidFill>
                <a:latin typeface="Calibri"/>
              </a:rPr>
              <a:t>POST /prediction/iris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212080" y="2103120"/>
            <a:ext cx="621792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 i="0">
                <a:solidFill>
                  <a:srgbClr val="1B1B2F"/>
                </a:solidFill>
                <a:latin typeface="Calibri"/>
              </a:rPr>
              <a:t>KNN sınıflandırma (scikit-learn)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761488"/>
            <a:ext cx="10972800" cy="621792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761488"/>
            <a:ext cx="420624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 i="0">
                <a:solidFill>
                  <a:srgbClr val="1F4E79"/>
                </a:solidFill>
                <a:latin typeface="Calibri"/>
              </a:rPr>
              <a:t>POST /prediction/advertising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12080" y="2761488"/>
            <a:ext cx="621792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 i="0">
                <a:solidFill>
                  <a:srgbClr val="1B1B2F"/>
                </a:solidFill>
                <a:latin typeface="Calibri"/>
              </a:rPr>
              <a:t>RandomForest satış tahmini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3419856"/>
            <a:ext cx="10972800" cy="6217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3419856"/>
            <a:ext cx="420624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 i="0">
                <a:solidFill>
                  <a:srgbClr val="1F4E79"/>
                </a:solidFill>
                <a:latin typeface="Calibri"/>
              </a:rPr>
              <a:t>POST /llm/chat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12080" y="3419856"/>
            <a:ext cx="621792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 i="0">
                <a:solidFill>
                  <a:srgbClr val="1B1B2F"/>
                </a:solidFill>
                <a:latin typeface="Calibri"/>
              </a:rPr>
              <a:t>LLM (Gemini/OpenRouter) yorum analizi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4078224"/>
            <a:ext cx="10972800" cy="621792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4078224"/>
            <a:ext cx="420624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 i="0">
                <a:solidFill>
                  <a:srgbClr val="1F4E79"/>
                </a:solidFill>
                <a:latin typeface="Calibri"/>
              </a:rPr>
              <a:t>GET /healthz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12080" y="4078224"/>
            <a:ext cx="621792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 i="0">
                <a:solidFill>
                  <a:srgbClr val="1B1B2F"/>
                </a:solidFill>
                <a:latin typeface="Calibri"/>
              </a:rPr>
              <a:t>Liveness / readiness probe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4736592"/>
            <a:ext cx="10972800" cy="6217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4736592"/>
            <a:ext cx="420624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 i="0">
                <a:solidFill>
                  <a:srgbClr val="1F4E79"/>
                </a:solidFill>
                <a:latin typeface="Calibri"/>
              </a:rPr>
              <a:t>GET /metrics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12080" y="4736592"/>
            <a:ext cx="6217920" cy="6217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 i="0">
                <a:solidFill>
                  <a:srgbClr val="1B1B2F"/>
                </a:solidFill>
                <a:latin typeface="Calibri"/>
              </a:rPr>
              <a:t>Prometheus metrikleri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5760720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Calibri"/>
              </a:rPr>
              <a:t>Not: LLM istemcisi tembel kurulur — API anahtarı olmasa da uygulama açılır, yalnızca /llm/chat 503 döner. Her tahmin PostgreSQL'e kaydedilir.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00584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Konteynerleştirme &amp; Kubernetes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164592"/>
            <a:ext cx="8229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600" b="1" i="0">
                <a:solidFill>
                  <a:srgbClr val="BBCCEE"/>
                </a:solidFill>
                <a:latin typeface="Calibri"/>
              </a:rP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34440"/>
            <a:ext cx="5486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 i="0">
                <a:solidFill>
                  <a:srgbClr val="1F4E79"/>
                </a:solidFill>
                <a:latin typeface="Calibri"/>
              </a:rPr>
              <a:t>Docker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37360"/>
            <a:ext cx="53949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>
                <a:solidFill>
                  <a:srgbClr val="1B1B2F"/>
                </a:solidFill>
                <a:latin typeface="Calibri"/>
              </a:rPr>
              <a:t>•  python:3.12-slim tabanlı hafif imaj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1B1B2F"/>
                </a:solidFill>
                <a:latin typeface="Calibri"/>
              </a:rPr>
              <a:t>•  requirements.txt ile bağımlılıklar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1B1B2F"/>
                </a:solidFill>
                <a:latin typeface="Calibri"/>
              </a:rPr>
              <a:t>•  libpq-dev → PostgreSQL sürücüsü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1B1B2F"/>
                </a:solidFill>
                <a:latin typeface="Calibri"/>
              </a:rPr>
              <a:t>•  uvicorn ile 8000 portunda servis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1B1B2F"/>
                </a:solidFill>
                <a:latin typeface="Calibri"/>
              </a:rPr>
              <a:t>•  CI'da otomatik build &amp; push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1234440"/>
            <a:ext cx="5486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 i="0">
                <a:solidFill>
                  <a:srgbClr val="1F4E79"/>
                </a:solidFill>
                <a:latin typeface="Calibri"/>
              </a:rPr>
              <a:t>Kubernetes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1737360"/>
            <a:ext cx="5486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>
                <a:solidFill>
                  <a:srgbClr val="1B1B2F"/>
                </a:solidFill>
                <a:latin typeface="Calibri"/>
              </a:rPr>
              <a:t>•  3 replika → ölçeklenebilirlik &amp; HA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1B1B2F"/>
                </a:solidFill>
                <a:latin typeface="Calibri"/>
              </a:rPr>
              <a:t>•  NodePort Service (port 30080)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1B1B2F"/>
                </a:solidFill>
                <a:latin typeface="Calibri"/>
              </a:rPr>
              <a:t>•  readiness / liveness probe → kendini iyileştirme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1B1B2F"/>
                </a:solidFill>
                <a:latin typeface="Calibri"/>
              </a:rPr>
              <a:t>•  PostgreSQL + 2Gi PVC → kalıcı veri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1B1B2F"/>
                </a:solidFill>
                <a:latin typeface="Calibri"/>
              </a:rPr>
              <a:t>•  Secret → DB kimlik &amp; LLM anahtarları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1B1B2F"/>
                </a:solidFill>
                <a:latin typeface="Calibri"/>
              </a:rPr>
              <a:t>•  ServiceMonitor → Prometheus taraması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00584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CI/CD Hattı — GitHub Actions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164592"/>
            <a:ext cx="8229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600" b="1" i="0">
                <a:solidFill>
                  <a:srgbClr val="BBCCEE"/>
                </a:solidFill>
                <a:latin typeface="Calibri"/>
              </a:rP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 i="0">
                <a:solidFill>
                  <a:srgbClr val="555555"/>
                </a:solidFill>
                <a:latin typeface="Calibri"/>
              </a:rPr>
              <a:t>main dalına her push → 3 aşamalı otomatik iş akışı</a:t>
            </a:r>
          </a:p>
        </p:txBody>
      </p:sp>
      <p:sp>
        <p:nvSpPr>
          <p:cNvPr id="6" name="Rectangle 5"/>
          <p:cNvSpPr/>
          <p:nvPr/>
        </p:nvSpPr>
        <p:spPr>
          <a:xfrm>
            <a:off x="1097280" y="2194560"/>
            <a:ext cx="2926080" cy="914400"/>
          </a:xfrm>
          <a:prstGeom prst="rect">
            <a:avLst/>
          </a:prstGeom>
          <a:solidFill>
            <a:srgbClr val="2B57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2194560"/>
            <a:ext cx="292608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1  lint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0" y="2194560"/>
            <a:ext cx="731520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0" i="0">
                <a:solidFill>
                  <a:srgbClr val="1B1B2F"/>
                </a:solidFill>
                <a:latin typeface="Calibri"/>
              </a:rPr>
              <a:t>ruff ile kod kalite kontrolü</a:t>
            </a:r>
          </a:p>
        </p:txBody>
      </p:sp>
      <p:sp>
        <p:nvSpPr>
          <p:cNvPr id="9" name="Rectangle 8"/>
          <p:cNvSpPr/>
          <p:nvPr/>
        </p:nvSpPr>
        <p:spPr>
          <a:xfrm>
            <a:off x="1097280" y="3383280"/>
            <a:ext cx="2926080" cy="914400"/>
          </a:xfrm>
          <a:prstGeom prst="rect">
            <a:avLst/>
          </a:prstGeom>
          <a:solidFill>
            <a:srgbClr val="0D6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3383280"/>
            <a:ext cx="292608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2  build-and-push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0" y="3383280"/>
            <a:ext cx="731520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0" i="0">
                <a:solidFill>
                  <a:srgbClr val="1B1B2F"/>
                </a:solidFill>
                <a:latin typeface="Calibri"/>
              </a:rPr>
              <a:t>Docker imajı build → :latest + :&lt;sha&gt; ile push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97280" y="4572000"/>
            <a:ext cx="2926080" cy="914400"/>
          </a:xfrm>
          <a:prstGeom prst="rect">
            <a:avLst/>
          </a:prstGeom>
          <a:solidFill>
            <a:srgbClr val="2E8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4572000"/>
            <a:ext cx="292608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3  update-manifest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97680" y="4572000"/>
            <a:ext cx="731520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0" i="0">
                <a:solidFill>
                  <a:srgbClr val="1B1B2F"/>
                </a:solidFill>
                <a:latin typeface="Calibri"/>
              </a:rPr>
              <a:t>k8s manifest tag'ini güncelle → geri commit [skip ci]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6035040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1">
                <a:solidFill>
                  <a:srgbClr val="555555"/>
                </a:solidFill>
                <a:latin typeface="Calibri"/>
              </a:rPr>
              <a:t>CI yalnızca Git'i günceller, dağıtımı ArgoCD yapar. [skip ci] sonsuz döngüyü engeller.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00584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GitOps — ArgoCD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164592"/>
            <a:ext cx="8229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600" b="1" i="0">
                <a:solidFill>
                  <a:srgbClr val="BBCCEE"/>
                </a:solidFill>
                <a:latin typeface="Calibri"/>
              </a:rPr>
              <a:t>06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463040"/>
            <a:ext cx="10972800" cy="1097280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463040"/>
            <a:ext cx="1060704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 i="0">
                <a:solidFill>
                  <a:srgbClr val="1F4E79"/>
                </a:solidFill>
                <a:latin typeface="Calibri"/>
              </a:rPr>
              <a:t>Git deposu = tek doğruluk kaynağı (single source of truth)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926080"/>
            <a:ext cx="10515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900">
                <a:solidFill>
                  <a:srgbClr val="1B1B2F"/>
                </a:solidFill>
                <a:latin typeface="Calibri"/>
              </a:rPr>
              <a:t>•  ArgoCD, depodaki k8s/ klasörünü sürekli izler.</a:t>
            </a:r>
          </a:p>
          <a:p>
            <a:pPr lvl="1">
              <a:spcAft>
                <a:spcPts val="1200"/>
              </a:spcAft>
            </a:pPr>
            <a:r>
              <a:rPr sz="1700">
                <a:solidFill>
                  <a:srgbClr val="1B1B2F"/>
                </a:solidFill>
                <a:latin typeface="Calibri"/>
              </a:rPr>
              <a:t>–  prune: manifestten silinen kaynak kümeden de silinir.</a:t>
            </a:r>
          </a:p>
          <a:p>
            <a:pPr lvl="1">
              <a:spcAft>
                <a:spcPts val="1200"/>
              </a:spcAft>
            </a:pPr>
            <a:r>
              <a:rPr sz="1700">
                <a:solidFill>
                  <a:srgbClr val="1B1B2F"/>
                </a:solidFill>
                <a:latin typeface="Calibri"/>
              </a:rPr>
              <a:t>–  selfHeal: kümede yapılan elle değişiklik geri alınır.</a:t>
            </a:r>
          </a:p>
          <a:p>
            <a:pPr>
              <a:spcAft>
                <a:spcPts val="1200"/>
              </a:spcAft>
            </a:pPr>
            <a:r>
              <a:rPr sz="1900">
                <a:solidFill>
                  <a:srgbClr val="1B1B2F"/>
                </a:solidFill>
                <a:latin typeface="Calibri"/>
              </a:rPr>
              <a:t>•  CI yeni imaj tag'ini commit'ler → ArgoCD algılar → otomatik yayar.</a:t>
            </a:r>
          </a:p>
          <a:p>
            <a:pPr>
              <a:spcAft>
                <a:spcPts val="1200"/>
              </a:spcAft>
            </a:pPr>
            <a:r>
              <a:rPr sz="1900">
                <a:solidFill>
                  <a:srgbClr val="1B1B2F"/>
                </a:solidFill>
                <a:latin typeface="Calibri"/>
              </a:rPr>
              <a:t>•  Manuel kubectl apply gerekmez → tekrarlanabilir, denetlenebilir dağıtım.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00584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İzlenebilirlik — Prometheus + Grafana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164592"/>
            <a:ext cx="8229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600" b="1" i="0">
                <a:solidFill>
                  <a:srgbClr val="BBCCEE"/>
                </a:solidFill>
                <a:latin typeface="Calibri"/>
              </a:rPr>
              <a:t>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800">
                <a:solidFill>
                  <a:srgbClr val="1B1B2F"/>
                </a:solidFill>
                <a:latin typeface="Calibri"/>
              </a:rPr>
              <a:t>•  kube-prometheus-stack (Helm) ile kurulum; /metrics ServiceMonitor ile taranır.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2286000"/>
            <a:ext cx="10972800" cy="54864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286000"/>
            <a:ext cx="36576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Panel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0" y="2286000"/>
            <a:ext cx="64008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PromQL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834640"/>
            <a:ext cx="10972800" cy="6583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834640"/>
            <a:ext cx="3749039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 i="0">
                <a:solidFill>
                  <a:srgbClr val="1F4E79"/>
                </a:solidFill>
                <a:latin typeface="Calibri"/>
              </a:rPr>
              <a:t>İstek hızı (req/s)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0" y="2834640"/>
            <a:ext cx="667512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 i="0">
                <a:solidFill>
                  <a:srgbClr val="1B1B2F"/>
                </a:solidFill>
                <a:latin typeface="Consolas"/>
              </a:rPr>
              <a:t>rate(http_requests_total[1m])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3529584"/>
            <a:ext cx="10972800" cy="658368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3529584"/>
            <a:ext cx="3749039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 i="0">
                <a:solidFill>
                  <a:srgbClr val="1F4E79"/>
                </a:solidFill>
                <a:latin typeface="Calibri"/>
              </a:rPr>
              <a:t>p95 gecikme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0" y="3529584"/>
            <a:ext cx="667512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 i="0">
                <a:solidFill>
                  <a:srgbClr val="1B1B2F"/>
                </a:solidFill>
                <a:latin typeface="Consolas"/>
              </a:rPr>
              <a:t>histogram_quantile(0.95, ...bucket[5m])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4224528"/>
            <a:ext cx="10972800" cy="6583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4224528"/>
            <a:ext cx="3749039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 i="0">
                <a:solidFill>
                  <a:srgbClr val="1F4E79"/>
                </a:solidFill>
                <a:latin typeface="Calibri"/>
              </a:rPr>
              <a:t>5xx hata oranı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54880" y="4224528"/>
            <a:ext cx="667512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 i="0">
                <a:solidFill>
                  <a:srgbClr val="1B1B2F"/>
                </a:solidFill>
                <a:latin typeface="Consolas"/>
              </a:rPr>
              <a:t>rate(http_requests_total{status=~"5.."}[1m])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4919472"/>
            <a:ext cx="10972800" cy="658368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4919472"/>
            <a:ext cx="3749039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 i="0">
                <a:solidFill>
                  <a:srgbClr val="1F4E79"/>
                </a:solidFill>
                <a:latin typeface="Calibri"/>
              </a:rPr>
              <a:t>Anlık istek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54880" y="4919472"/>
            <a:ext cx="667512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 i="0">
                <a:solidFill>
                  <a:srgbClr val="1B1B2F"/>
                </a:solidFill>
                <a:latin typeface="Consolas"/>
              </a:rPr>
              <a:t>http_requests_inprogress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00584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Sonuç &amp; Kazanımlar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164592"/>
            <a:ext cx="8229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600" b="1" i="0">
                <a:solidFill>
                  <a:srgbClr val="BBCCEE"/>
                </a:solidFill>
                <a:latin typeface="Calibri"/>
              </a:rPr>
              <a:t>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46304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100">
                <a:solidFill>
                  <a:srgbClr val="1B1B2F"/>
                </a:solidFill>
                <a:latin typeface="Calibri"/>
              </a:rPr>
              <a:t>•  Çalışan, canlı (deploy edilmiş) çok uçlu tahmin servisi ✔</a:t>
            </a:r>
          </a:p>
          <a:p>
            <a:pPr>
              <a:spcAft>
                <a:spcPts val="1600"/>
              </a:spcAft>
            </a:pPr>
            <a:r>
              <a:rPr sz="2100">
                <a:solidFill>
                  <a:srgbClr val="1B1B2F"/>
                </a:solidFill>
                <a:latin typeface="Calibri"/>
              </a:rPr>
              <a:t>•  Docker + Kubernetes ile ölçeklenebilir, dayanıklı altyapı ✔</a:t>
            </a:r>
          </a:p>
          <a:p>
            <a:pPr>
              <a:spcAft>
                <a:spcPts val="1600"/>
              </a:spcAft>
            </a:pPr>
            <a:r>
              <a:rPr sz="2100">
                <a:solidFill>
                  <a:srgbClr val="1B1B2F"/>
                </a:solidFill>
                <a:latin typeface="Calibri"/>
              </a:rPr>
              <a:t>•  PostgreSQL entegrasyonu — tahminlerin kalıcı kaydı ✔</a:t>
            </a:r>
          </a:p>
          <a:p>
            <a:pPr>
              <a:spcAft>
                <a:spcPts val="1600"/>
              </a:spcAft>
            </a:pPr>
            <a:r>
              <a:rPr sz="2100">
                <a:solidFill>
                  <a:srgbClr val="1B1B2F"/>
                </a:solidFill>
                <a:latin typeface="Calibri"/>
              </a:rPr>
              <a:t>•  GitHub Actions ile tam otomatik CI/CD ✔</a:t>
            </a:r>
          </a:p>
          <a:p>
            <a:pPr>
              <a:spcAft>
                <a:spcPts val="1600"/>
              </a:spcAft>
            </a:pPr>
            <a:r>
              <a:rPr sz="2100">
                <a:solidFill>
                  <a:srgbClr val="1B1B2F"/>
                </a:solidFill>
                <a:latin typeface="Calibri"/>
              </a:rPr>
              <a:t>•  ArgoCD ile GitOps tabanlı sürekli dağıtım ✔</a:t>
            </a:r>
          </a:p>
          <a:p>
            <a:pPr>
              <a:spcAft>
                <a:spcPts val="1600"/>
              </a:spcAft>
            </a:pPr>
            <a:r>
              <a:rPr sz="2100">
                <a:solidFill>
                  <a:srgbClr val="1B1B2F"/>
                </a:solidFill>
                <a:latin typeface="Calibri"/>
              </a:rPr>
              <a:t>•  Prometheus + Grafana ile canlı gözlemlenebilirlik ✔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5669280"/>
            <a:ext cx="10515600" cy="822960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5669280"/>
            <a:ext cx="105156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 i="0">
                <a:solidFill>
                  <a:srgbClr val="2E863A"/>
                </a:solidFill>
                <a:latin typeface="Calibri"/>
              </a:rPr>
              <a:t>Ana hedef başarıldı: Model uçtan uca çalışır hale getirildi.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1B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560320"/>
            <a:ext cx="103327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Calibri"/>
              </a:rPr>
              <a:t>Teşekkürler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840480"/>
            <a:ext cx="103327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0" i="1">
                <a:solidFill>
                  <a:srgbClr val="9FB4D8"/>
                </a:solidFill>
                <a:latin typeface="Calibri"/>
              </a:rPr>
              <a:t>Sorularınız?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