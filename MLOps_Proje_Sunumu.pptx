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Kubernetes + CI/CD + GitOps + Monitoring ile</a:t>
            </a:r>
          </a:p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Uçtan Uca ML Model Servisi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FB4D8"/>
                </a:solidFill>
                <a:latin typeface="Calibri"/>
              </a:rPr>
              <a:t>MLOps Bitirme Projesi — Infra &amp; Deployment Odaklı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Hazırlayan: ONUR GÜRBÜZ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Büyük Dil Modelleri ve Kurumsal Zeka  |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 Hedefi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 yaptım” değil,</a:t>
            </a:r>
          </a:p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“Modeli uçtan uca çalışır hale getirdim.”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Odak: ML modelin kendisi değil — INFRA &amp; DEPLOYMENT süreci.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Çalışan, canlı (deploy edilmiş) bir proje sunmak.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Docker, Kubernetes, API (FastAPI) ve veritabanı entegrasyonu.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Üst seviye eklentiler: CI/CD, GitOps ve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Repo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(kod, Dockerfile, k8s/)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Actions CI/CD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lint → build → push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(GitHub Container Registry)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280160"/>
            <a:ext cx="7406640" cy="4937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Docker Desktop Kubernetes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(GitOps sync)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(3 pod)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663440"/>
            <a:ext cx="6949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CI imajı üretir, k8s manifest tag'ini günceller (commit back)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ArgoCD k8s/ klasörünü izler ve kümeye sürekli senkron eder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FastAPI tahminleri PostgreSQL'e yazar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Prometheus /metrics ucunu tarar, Grafana görselleştirir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Uygulama Katmanı — 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Tek FastAPI servisi, üç ML/AI ucu + sağlık &amp; metrik uçları: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/prediction/iris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KNN sınıflandırma (scikit-learn)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61488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/prediction/advertising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761488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RandomForest satış tahmini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9856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/llm/chat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419856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LLM (Gemini/OpenRouter) yorum analizi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78224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78224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/healthz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078224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Liveness / readiness probe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736592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Prometheus metrikleri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Not: LLM istemcisi tembel kurulur — API anahtarı olmasa da uygulama açılır, yalnızca /llm/chat 503 döner. Her tahmin PostgreSQL'e kaydedilir.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Konteynerleştirme &amp;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python:3.12-slim tabanlı hafif imaj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requirements.txt ile bağımlılıklar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libpq-dev → PostgreSQL sürücüsü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uvicorn ile 8000 portunda servis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CI'da otomatik build &amp;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3 replika → ölçeklenebilirlik &amp; HA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NodePort Service (port 30080)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readiness / liveness probe → kendini iyileştirme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PostgreSQL + 2Gi PVC → kalıcı veri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Secret → DB kimlik &amp; LLM anahtarları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ServiceMonitor → Prometheus taraması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CI/CD Hattı —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main dalına her push → 3 aşamalı otomatik iş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  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ruff ile kod kalite kontrolü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  build-and-push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38328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Docker imajı build → :latest + :&lt;sha&gt; ile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  update-manifest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57200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k8s manifest tag'ini güncelle → geri commit [skip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CI yalnızca Git'i günceller, dağıtımı ArgoCD yapar. [skip ci] sonsuz döngüyü engeller.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GitOps — ArgoCD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Git deposu = tek doğruluk kaynağı (single source of truth)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ArgoCD, depodaki k8s/ klasörünü sürekli izler.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prune: manifestten silinen kaynak kümeden de silinir.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selfHeal: kümede yapılan elle değişiklik geri alınır.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CI yeni imaj tag'ini commit'ler → ArgoCD algılar → otomatik yayar.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Manuel kubectl apply gerekmez → tekrarlanabilir, denetlenebilir dağıtım.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İzlenebilirlik — Prometheus +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kube-prometheus-stack (Helm) ile kurulum; /metrics ServiceMonitor ile taranır.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6400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PromQL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İstek hızı (req/s)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834640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rate(http_requests_total[1m])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9584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p95 gecikme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529584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histogram_quantile(0.95, ...bucket[5m])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5xx hata oranı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224528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rate(http_requests_total{status=~"5.."}[1m])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19472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19472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Anlık istek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9472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http_requests_inprogress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Sonuç &amp; Kazanımlar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Çalışan, canlı (deploy edilmiş) çok uçlu tahmin servisi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Docker + Kubernetes ile ölçeklenebilir, dayanıklı altyapı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PostgreSQL entegrasyonu — tahminlerin kalıcı kaydı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GitHub Actions ile tam otomatik CI/CD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ArgoCD ile GitOps tabanlı sürekli dağıtım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Prometheus + Grafana ile canlı gözlemlenebilirlik ✔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2E863A"/>
                </a:solidFill>
                <a:latin typeface="Calibri"/>
              </a:rPr>
              <a:t>Ana hedef başarıldı: Model uçtan uca çalışır hale getirildi.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Uygulama Çalışıyor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Başlangıç: modeller + DB tabloları + Uvicorn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uygulama_calisiy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60484"/>
            <a:ext cx="5394960" cy="30343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FastAPI Swagger /docs — tüm uçlar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99607"/>
            <a:ext cx="5394960" cy="29560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API Uçları (Swagger)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POST /prediction/advertising — istek gövdesi &amp; şema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dverti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85538"/>
            <a:ext cx="5394960" cy="2984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GET /metrics &amp; /healthz — izleme/probe uçları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metrics_end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49395"/>
            <a:ext cx="5394960" cy="28564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CI/CD (GitHub Actions + GHCR)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GitHub Actions — lint / build / manifest (yeşil)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E8ECF2"/>
          </a:solidFill>
          <a:ln w="1905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5394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6A788A"/>
                </a:solidFill>
                <a:latin typeface="Calibri"/>
              </a:rPr>
              <a:t>🖼  GitHub Actions çalışması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9AA6B4"/>
                </a:solidFill>
                <a:latin typeface="Calibri"/>
              </a:rPr>
              <a:t>(screenshots/05_github_actions.png)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GHCR — CI'ın ürettiği konteyner imajı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E8ECF2"/>
          </a:solidFill>
          <a:ln w="1905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520440"/>
            <a:ext cx="5394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6A788A"/>
                </a:solidFill>
                <a:latin typeface="Calibri"/>
              </a:rPr>
              <a:t>🖼  GHCR paketi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9AA6B4"/>
                </a:solidFill>
                <a:latin typeface="Calibri"/>
              </a:rPr>
              <a:t>(screenshots/06_ghcr.png)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9FB4D8"/>
                </a:solidFill>
                <a:latin typeface="Calibri"/>
              </a:rPr>
              <a:t>Sorularınız?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