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94560"/>
            <a:ext cx="12191695" cy="7315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332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Calibri"/>
              </a:rPr>
              <a:t>Kubernetes + CI/CD + GitOps + Monitoring ile</a:t>
            </a:r>
          </a:p>
          <a:p>
            <a:pPr algn="ctr"/>
            <a:r>
              <a:rPr sz="3800" b="1" i="0">
                <a:solidFill>
                  <a:srgbClr val="FFFFFF"/>
                </a:solidFill>
                <a:latin typeface="Calibri"/>
              </a:rPr>
              <a:t>Uçtan Uca ML Model Servisi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9FB4D8"/>
                </a:solidFill>
                <a:latin typeface="Calibri"/>
              </a:rPr>
              <a:t>MLOps Bitirme Projesi — Infra &amp; Deployment Odaklı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Hazırlayan: ONUR GÜRBÜZ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85216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0">
                <a:solidFill>
                  <a:srgbClr val="555555"/>
                </a:solidFill>
                <a:latin typeface="Calibri"/>
              </a:rPr>
              <a:t>Büyük Dil Modelleri ve Kurumsal Zeka  |  Temmuz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Proje Hedefi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164592"/>
            <a:ext cx="8229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600" b="1" i="0">
                <a:solidFill>
                  <a:srgbClr val="BBCCEE"/>
                </a:solidFill>
                <a:latin typeface="Calibri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11064240" cy="13716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103327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 i="0">
                <a:solidFill>
                  <a:srgbClr val="1F4E79"/>
                </a:solidFill>
                <a:latin typeface="Calibri"/>
              </a:rPr>
              <a:t>“Model yaptım” değil,</a:t>
            </a:r>
          </a:p>
          <a:p>
            <a:pPr algn="ctr"/>
            <a:r>
              <a:rPr sz="2400" b="1" i="0">
                <a:solidFill>
                  <a:srgbClr val="1F4E79"/>
                </a:solidFill>
                <a:latin typeface="Calibri"/>
              </a:rPr>
              <a:t>“Modeli uçtan uca çalışır hale getirdim.”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200400"/>
            <a:ext cx="105156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>
                <a:solidFill>
                  <a:srgbClr val="1B1B2F"/>
                </a:solidFill>
                <a:latin typeface="Calibri"/>
              </a:rPr>
              <a:t>•  Odak: ML modelin kendisi değil — INFRA &amp; DEPLOYMENT süreci.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B1B2F"/>
                </a:solidFill>
                <a:latin typeface="Calibri"/>
              </a:rPr>
              <a:t>•  Çalışan, canlı (deploy edilmiş) bir proje sunmak.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B1B2F"/>
                </a:solidFill>
                <a:latin typeface="Calibri"/>
              </a:rPr>
              <a:t>•  Docker, Kubernetes, API (FastAPI) ve veritabanı entegrasyonu.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B1B2F"/>
                </a:solidFill>
                <a:latin typeface="Calibri"/>
              </a:rPr>
              <a:t>•  Üst seviye eklentiler: CI/CD, GitOps ve Monitoring.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Sistem Mimarisi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164592"/>
            <a:ext cx="8229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600" b="1" i="0">
                <a:solidFill>
                  <a:srgbClr val="BBCCEE"/>
                </a:solidFill>
                <a:latin typeface="Calibri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3108960" cy="822960"/>
          </a:xfrm>
          <a:prstGeom prst="rect">
            <a:avLst/>
          </a:prstGeom>
          <a:solidFill>
            <a:srgbClr val="333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3108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GitHub Repo</a:t>
            </a:r>
          </a:p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(kod, Dockerfile, k8s/)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651760"/>
            <a:ext cx="3108960" cy="822960"/>
          </a:xfrm>
          <a:prstGeom prst="rect">
            <a:avLst/>
          </a:prstGeom>
          <a:solidFill>
            <a:srgbClr val="2B57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651760"/>
            <a:ext cx="3108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GitHub Actions CI/CD</a:t>
            </a:r>
          </a:p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lint → build → push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931920"/>
            <a:ext cx="3108960" cy="822960"/>
          </a:xfrm>
          <a:prstGeom prst="rect">
            <a:avLst/>
          </a:prstGeom>
          <a:solidFill>
            <a:srgbClr val="0D6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3108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GHCR</a:t>
            </a:r>
          </a:p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(GitHub Container Registry)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1280160"/>
            <a:ext cx="7406640" cy="493776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40" y="1371600"/>
            <a:ext cx="7406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 i="0">
                <a:solidFill>
                  <a:srgbClr val="1F4E79"/>
                </a:solidFill>
                <a:latin typeface="Calibri"/>
              </a:rPr>
              <a:t>Docker Desktop Kubernetes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2011680"/>
            <a:ext cx="2194560" cy="822960"/>
          </a:xfrm>
          <a:prstGeom prst="rect">
            <a:avLst/>
          </a:prstGeom>
          <a:solidFill>
            <a:srgbClr val="2E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2011680"/>
            <a:ext cx="21945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ArgoCD</a:t>
            </a:r>
          </a:p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(GitOps sync)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40880" y="2011680"/>
            <a:ext cx="2194560" cy="8229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80" y="2011680"/>
            <a:ext cx="21945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FastAPI</a:t>
            </a:r>
          </a:p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(3 pod)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509760" y="2011680"/>
            <a:ext cx="1828800" cy="8229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09760" y="2011680"/>
            <a:ext cx="1828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Prometheus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0880" y="3383280"/>
            <a:ext cx="2194560" cy="822960"/>
          </a:xfrm>
          <a:prstGeom prst="rect">
            <a:avLst/>
          </a:prstGeom>
          <a:solidFill>
            <a:srgbClr val="3366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0880" y="3383280"/>
            <a:ext cx="21945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PostgreSQL</a:t>
            </a:r>
          </a:p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(PVC)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509760" y="3383280"/>
            <a:ext cx="1828800" cy="82296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09760" y="3383280"/>
            <a:ext cx="1828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Grafana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4663440"/>
            <a:ext cx="69494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  <a:latin typeface="Calibri"/>
              </a:rPr>
              <a:t>• CI imajı üretir, k8s manifest tag'ini günceller (commit back)</a:t>
            </a:r>
          </a:p>
          <a:p>
            <a:pPr algn="l"/>
            <a:r>
              <a:rPr sz="1300" b="0" i="0">
                <a:solidFill>
                  <a:srgbClr val="555555"/>
                </a:solidFill>
                <a:latin typeface="Calibri"/>
              </a:rPr>
              <a:t>• ArgoCD k8s/ klasörünü izler ve kümeye sürekli senkron eder</a:t>
            </a:r>
          </a:p>
          <a:p>
            <a:pPr algn="l"/>
            <a:r>
              <a:rPr sz="1300" b="0" i="0">
                <a:solidFill>
                  <a:srgbClr val="555555"/>
                </a:solidFill>
                <a:latin typeface="Calibri"/>
              </a:rPr>
              <a:t>• FastAPI tahminleri PostgreSQL'e yazar</a:t>
            </a:r>
          </a:p>
          <a:p>
            <a:pPr algn="l"/>
            <a:r>
              <a:rPr sz="1300" b="0" i="0">
                <a:solidFill>
                  <a:srgbClr val="555555"/>
                </a:solidFill>
                <a:latin typeface="Calibri"/>
              </a:rPr>
              <a:t>• Prometheus /metrics ucunu tarar, Grafana görselleştirir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Uygulama Katmanı — FastAPI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164592"/>
            <a:ext cx="8229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600" b="1" i="0">
                <a:solidFill>
                  <a:srgbClr val="BBCCEE"/>
                </a:solidFill>
                <a:latin typeface="Calibr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B1B2F"/>
                </a:solidFill>
                <a:latin typeface="Calibri"/>
              </a:rPr>
              <a:t>•  Tek FastAPI servisi, üç ML/AI ucu + sağlık &amp; metrik uçları: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03120"/>
            <a:ext cx="1097280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03120"/>
            <a:ext cx="42062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 i="0">
                <a:solidFill>
                  <a:srgbClr val="1F4E79"/>
                </a:solidFill>
                <a:latin typeface="Calibri"/>
              </a:rPr>
              <a:t>POST /prediction/iris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2103120"/>
            <a:ext cx="621792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1B1B2F"/>
                </a:solidFill>
                <a:latin typeface="Calibri"/>
              </a:rPr>
              <a:t>KNN sınıflandırma (scikit-learn)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761488"/>
            <a:ext cx="10972800" cy="621792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761488"/>
            <a:ext cx="42062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 i="0">
                <a:solidFill>
                  <a:srgbClr val="1F4E79"/>
                </a:solidFill>
                <a:latin typeface="Calibri"/>
              </a:rPr>
              <a:t>POST /prediction/advertising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2761488"/>
            <a:ext cx="621792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1B1B2F"/>
                </a:solidFill>
                <a:latin typeface="Calibri"/>
              </a:rPr>
              <a:t>RandomForest satış tahmini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419856"/>
            <a:ext cx="1097280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419856"/>
            <a:ext cx="42062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 i="0">
                <a:solidFill>
                  <a:srgbClr val="1F4E79"/>
                </a:solidFill>
                <a:latin typeface="Calibri"/>
              </a:rPr>
              <a:t>POST /llm/chat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3419856"/>
            <a:ext cx="621792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1B1B2F"/>
                </a:solidFill>
                <a:latin typeface="Calibri"/>
              </a:rPr>
              <a:t>LLM (Gemini/OpenRouter) yorum analizi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078224"/>
            <a:ext cx="10972800" cy="621792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078224"/>
            <a:ext cx="42062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 i="0">
                <a:solidFill>
                  <a:srgbClr val="1F4E79"/>
                </a:solidFill>
                <a:latin typeface="Calibri"/>
              </a:rPr>
              <a:t>GET /healthz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4078224"/>
            <a:ext cx="621792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1B1B2F"/>
                </a:solidFill>
                <a:latin typeface="Calibri"/>
              </a:rPr>
              <a:t>Liveness / readiness probe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736592"/>
            <a:ext cx="1097280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736592"/>
            <a:ext cx="42062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 i="0">
                <a:solidFill>
                  <a:srgbClr val="1F4E79"/>
                </a:solidFill>
                <a:latin typeface="Calibri"/>
              </a:rPr>
              <a:t>GET /metrics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4736592"/>
            <a:ext cx="621792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1B1B2F"/>
                </a:solidFill>
                <a:latin typeface="Calibri"/>
              </a:rPr>
              <a:t>Prometheus metrikleri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76072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555555"/>
                </a:solidFill>
                <a:latin typeface="Calibri"/>
              </a:rPr>
              <a:t>Not: LLM istemcisi tembel kurulur — API anahtarı olmasa da uygulama açılır, yalnızca /llm/chat 503 döner. Her tahmin PostgreSQL'e kaydedilir.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Konteynerleştirme &amp; Kubernetes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164592"/>
            <a:ext cx="8229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600" b="1" i="0">
                <a:solidFill>
                  <a:srgbClr val="BBCCEE"/>
                </a:solidFill>
                <a:latin typeface="Calibr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1F4E79"/>
                </a:solidFill>
                <a:latin typeface="Calibri"/>
              </a:rPr>
              <a:t>Docker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5394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1B2F"/>
                </a:solidFill>
                <a:latin typeface="Calibri"/>
              </a:rPr>
              <a:t>•  python:3.12-slim tabanlı hafif imaj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1B2F"/>
                </a:solidFill>
                <a:latin typeface="Calibri"/>
              </a:rPr>
              <a:t>•  requirements.txt ile bağımlılıklar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1B2F"/>
                </a:solidFill>
                <a:latin typeface="Calibri"/>
              </a:rPr>
              <a:t>•  libpq-dev → PostgreSQL sürücüsü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1B2F"/>
                </a:solidFill>
                <a:latin typeface="Calibri"/>
              </a:rPr>
              <a:t>•  uvicorn ile 8000 portunda servis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1B2F"/>
                </a:solidFill>
                <a:latin typeface="Calibri"/>
              </a:rPr>
              <a:t>•  CI'da otomatik build &amp; push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3444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1F4E79"/>
                </a:solidFill>
                <a:latin typeface="Calibri"/>
              </a:rPr>
              <a:t>Kubernetes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73736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1B2F"/>
                </a:solidFill>
                <a:latin typeface="Calibri"/>
              </a:rPr>
              <a:t>•  3 replika → ölçeklenebilirlik &amp; HA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1B2F"/>
                </a:solidFill>
                <a:latin typeface="Calibri"/>
              </a:rPr>
              <a:t>•  NodePort Service (port 30080)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1B2F"/>
                </a:solidFill>
                <a:latin typeface="Calibri"/>
              </a:rPr>
              <a:t>•  readiness / liveness probe → kendini iyileştirme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1B2F"/>
                </a:solidFill>
                <a:latin typeface="Calibri"/>
              </a:rPr>
              <a:t>•  PostgreSQL + 2Gi PVC → kalıcı veri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1B2F"/>
                </a:solidFill>
                <a:latin typeface="Calibri"/>
              </a:rPr>
              <a:t>•  Secret → DB kimlik &amp; LLM anahtarları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1B2F"/>
                </a:solidFill>
                <a:latin typeface="Calibri"/>
              </a:rPr>
              <a:t>•  ServiceMonitor → Prometheus taraması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CI/CD Hattı — GitHub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164592"/>
            <a:ext cx="8229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600" b="1" i="0">
                <a:solidFill>
                  <a:srgbClr val="BBCCEE"/>
                </a:solidFill>
                <a:latin typeface="Calibr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555555"/>
                </a:solidFill>
                <a:latin typeface="Calibri"/>
              </a:rPr>
              <a:t>main dalına her push → 3 aşamalı otomatik iş akışı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2194560"/>
            <a:ext cx="2926080" cy="914400"/>
          </a:xfrm>
          <a:prstGeom prst="rect">
            <a:avLst/>
          </a:prstGeom>
          <a:solidFill>
            <a:srgbClr val="2B57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29260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  lint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194560"/>
            <a:ext cx="73152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B1B2F"/>
                </a:solidFill>
                <a:latin typeface="Calibri"/>
              </a:rPr>
              <a:t>ruff ile kod kalite kontrolü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383280"/>
            <a:ext cx="2926080" cy="914400"/>
          </a:xfrm>
          <a:prstGeom prst="rect">
            <a:avLst/>
          </a:prstGeom>
          <a:solidFill>
            <a:srgbClr val="0D6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383280"/>
            <a:ext cx="29260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  build-and-push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3383280"/>
            <a:ext cx="73152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B1B2F"/>
                </a:solidFill>
                <a:latin typeface="Calibri"/>
              </a:rPr>
              <a:t>Docker imajı build → :latest + :&lt;sha&gt; ile push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97280" y="4572000"/>
            <a:ext cx="2926080" cy="914400"/>
          </a:xfrm>
          <a:prstGeom prst="rect">
            <a:avLst/>
          </a:prstGeom>
          <a:solidFill>
            <a:srgbClr val="2E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572000"/>
            <a:ext cx="29260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  update-manifest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4572000"/>
            <a:ext cx="73152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B1B2F"/>
                </a:solidFill>
                <a:latin typeface="Calibri"/>
              </a:rPr>
              <a:t>k8s manifest tag'ini güncelle → geri commit [skip ci]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03504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  <a:latin typeface="Calibri"/>
              </a:rPr>
              <a:t>CI yalnızca Git'i günceller, dağıtımı ArgoCD yapar. [skip ci] sonsuz döngüyü engeller.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GitOps — ArgoCD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164592"/>
            <a:ext cx="8229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600" b="1" i="0">
                <a:solidFill>
                  <a:srgbClr val="BBCCEE"/>
                </a:solidFill>
                <a:latin typeface="Calibri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63040"/>
            <a:ext cx="10972800" cy="10972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60704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4E79"/>
                </a:solidFill>
                <a:latin typeface="Calibri"/>
              </a:rPr>
              <a:t>Git deposu = tek doğruluk kaynağı (single source of truth)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>
                <a:solidFill>
                  <a:srgbClr val="1B1B2F"/>
                </a:solidFill>
                <a:latin typeface="Calibri"/>
              </a:rPr>
              <a:t>•  ArgoCD, depodaki k8s/ klasörünü sürekli izler.</a:t>
            </a:r>
          </a:p>
          <a:p>
            <a:pPr lvl="1">
              <a:spcAft>
                <a:spcPts val="1200"/>
              </a:spcAft>
            </a:pPr>
            <a:r>
              <a:rPr sz="1700">
                <a:solidFill>
                  <a:srgbClr val="1B1B2F"/>
                </a:solidFill>
                <a:latin typeface="Calibri"/>
              </a:rPr>
              <a:t>–  prune: manifestten silinen kaynak kümeden de silinir.</a:t>
            </a:r>
          </a:p>
          <a:p>
            <a:pPr lvl="1">
              <a:spcAft>
                <a:spcPts val="1200"/>
              </a:spcAft>
            </a:pPr>
            <a:r>
              <a:rPr sz="1700">
                <a:solidFill>
                  <a:srgbClr val="1B1B2F"/>
                </a:solidFill>
                <a:latin typeface="Calibri"/>
              </a:rPr>
              <a:t>–  selfHeal: kümede yapılan elle değişiklik geri alınır.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1B1B2F"/>
                </a:solidFill>
                <a:latin typeface="Calibri"/>
              </a:rPr>
              <a:t>•  CI yeni imaj tag'ini commit'ler → ArgoCD algılar → otomatik yayar.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1B1B2F"/>
                </a:solidFill>
                <a:latin typeface="Calibri"/>
              </a:rPr>
              <a:t>•  Manuel kubectl apply gerekmez → tekrarlanabilir, denetlenebilir dağıtım.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İzlenebilirlik — Prometheus + Grafana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164592"/>
            <a:ext cx="8229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600" b="1" i="0">
                <a:solidFill>
                  <a:srgbClr val="BBCCEE"/>
                </a:solidFill>
                <a:latin typeface="Calibri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B1B2F"/>
                </a:solidFill>
                <a:latin typeface="Calibri"/>
              </a:rPr>
              <a:t>•  kube-prometheus-stack (Helm) ile kurulum; /metrics ServiceMonitor ile taranır.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286000"/>
            <a:ext cx="10972800" cy="54864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286000"/>
            <a:ext cx="3657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Panel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2286000"/>
            <a:ext cx="6400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PromQL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834640"/>
            <a:ext cx="10972800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834640"/>
            <a:ext cx="3749039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4E79"/>
                </a:solidFill>
                <a:latin typeface="Calibri"/>
              </a:rPr>
              <a:t>İstek hızı (req/s)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834640"/>
            <a:ext cx="6675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1B1B2F"/>
                </a:solidFill>
                <a:latin typeface="Consolas"/>
              </a:rPr>
              <a:t>rate(http_requests_total[1m])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529584"/>
            <a:ext cx="10972800" cy="65836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529584"/>
            <a:ext cx="3749039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4E79"/>
                </a:solidFill>
                <a:latin typeface="Calibri"/>
              </a:rPr>
              <a:t>p95 gecikme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529584"/>
            <a:ext cx="6675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1B1B2F"/>
                </a:solidFill>
                <a:latin typeface="Consolas"/>
              </a:rPr>
              <a:t>histogram_quantile(0.95, ...bucket[5m])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24528"/>
            <a:ext cx="10972800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224528"/>
            <a:ext cx="3749039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4E79"/>
                </a:solidFill>
                <a:latin typeface="Calibri"/>
              </a:rPr>
              <a:t>5xx hata oranı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4224528"/>
            <a:ext cx="6675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1B1B2F"/>
                </a:solidFill>
                <a:latin typeface="Consolas"/>
              </a:rPr>
              <a:t>rate(http_requests_total{status=~"5.."}[1m])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919472"/>
            <a:ext cx="10972800" cy="65836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919472"/>
            <a:ext cx="3749039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4E79"/>
                </a:solidFill>
                <a:latin typeface="Calibri"/>
              </a:rPr>
              <a:t>Anlık istek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4919472"/>
            <a:ext cx="6675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1B1B2F"/>
                </a:solidFill>
                <a:latin typeface="Consolas"/>
              </a:rPr>
              <a:t>http_requests_inprogress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Canlı Kanıt — Uygulama Çalışıyor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164592"/>
            <a:ext cx="8229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600" b="1" i="0">
                <a:solidFill>
                  <a:srgbClr val="BBCCEE"/>
                </a:solidFill>
                <a:latin typeface="Calibri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4E79"/>
                </a:solidFill>
                <a:latin typeface="Calibri"/>
              </a:rPr>
              <a:t>Başlangıç: modeller + DB tabloları + Uvicorn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5394960" cy="4480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B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1_uygulama_calisiy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460484"/>
            <a:ext cx="5394960" cy="303431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925312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2E863A"/>
                </a:solidFill>
                <a:latin typeface="Calibri"/>
              </a:rPr>
              <a:t>✔ gerçek ekran görüntüsü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23444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4E79"/>
                </a:solidFill>
                <a:latin typeface="Calibri"/>
              </a:rPr>
              <a:t>FastAPI Swagger /docs — tüm uçlar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737360"/>
            <a:ext cx="5394960" cy="4480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B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02_swag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2499607"/>
            <a:ext cx="5394960" cy="295606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09360" y="5925312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2E863A"/>
                </a:solidFill>
                <a:latin typeface="Calibri"/>
              </a:rPr>
              <a:t>✔ gerçek ekran görüntüsü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Canlı Kanıt — API Uçları (Swagger)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164592"/>
            <a:ext cx="8229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600" b="1" i="0">
                <a:solidFill>
                  <a:srgbClr val="BBCCEE"/>
                </a:solidFill>
                <a:latin typeface="Calibri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F4E79"/>
                </a:solidFill>
                <a:latin typeface="Calibri"/>
              </a:rPr>
              <a:t>POST /prediction/advertising — istek gövdesi &amp; şema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5394960" cy="4480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B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3_adverti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485538"/>
            <a:ext cx="5394960" cy="298420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925312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2E863A"/>
                </a:solidFill>
                <a:latin typeface="Calibri"/>
              </a:rPr>
              <a:t>✔ gerçek ekran görüntüsü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23444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F4E79"/>
                </a:solidFill>
                <a:latin typeface="Calibri"/>
              </a:rPr>
              <a:t>GET /metrics &amp; /healthz — izleme/probe uçları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737360"/>
            <a:ext cx="5394960" cy="4480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B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04_metrics_endpo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2549395"/>
            <a:ext cx="5394960" cy="285648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09360" y="5925312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2E863A"/>
                </a:solidFill>
                <a:latin typeface="Calibri"/>
              </a:rPr>
              <a:t>✔ gerçek ekran görüntüsü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Canlı Kanıt — CI/CD (GitHub Actions + GHCR)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164592"/>
            <a:ext cx="8229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600" b="1" i="0">
                <a:solidFill>
                  <a:srgbClr val="BBCCEE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4E79"/>
                </a:solidFill>
                <a:latin typeface="Calibri"/>
              </a:rPr>
              <a:t>GitHub Actions — lint / build / manifest (yeşil)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5394960" cy="4480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B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5_github_a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537740"/>
            <a:ext cx="5394960" cy="2879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925312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2E863A"/>
                </a:solidFill>
                <a:latin typeface="Calibri"/>
              </a:rPr>
              <a:t>✔ gerçek ekran görüntüsü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23444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4E79"/>
                </a:solidFill>
                <a:latin typeface="Calibri"/>
              </a:rPr>
              <a:t>GHCR — CI'ın ürettiği konteyner imajı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737360"/>
            <a:ext cx="5394960" cy="4480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B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06_ghc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2548389"/>
            <a:ext cx="5394960" cy="285850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09360" y="5925312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2E863A"/>
                </a:solidFill>
                <a:latin typeface="Calibri"/>
              </a:rPr>
              <a:t>✔ gerçek ekran görüntüsü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Sonuç &amp; Kazanımlar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164592"/>
            <a:ext cx="8229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600" b="1" i="0">
                <a:solidFill>
                  <a:srgbClr val="BBCCEE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100">
                <a:solidFill>
                  <a:srgbClr val="1B1B2F"/>
                </a:solidFill>
                <a:latin typeface="Calibri"/>
              </a:rPr>
              <a:t>•  Çalışan, canlı (deploy edilmiş) çok uçlu tahmin servisi ✔</a:t>
            </a:r>
          </a:p>
          <a:p>
            <a:pPr>
              <a:spcAft>
                <a:spcPts val="1600"/>
              </a:spcAft>
            </a:pPr>
            <a:r>
              <a:rPr sz="2100">
                <a:solidFill>
                  <a:srgbClr val="1B1B2F"/>
                </a:solidFill>
                <a:latin typeface="Calibri"/>
              </a:rPr>
              <a:t>•  Docker + Kubernetes ile ölçeklenebilir, dayanıklı altyapı ✔</a:t>
            </a:r>
          </a:p>
          <a:p>
            <a:pPr>
              <a:spcAft>
                <a:spcPts val="1600"/>
              </a:spcAft>
            </a:pPr>
            <a:r>
              <a:rPr sz="2100">
                <a:solidFill>
                  <a:srgbClr val="1B1B2F"/>
                </a:solidFill>
                <a:latin typeface="Calibri"/>
              </a:rPr>
              <a:t>•  PostgreSQL entegrasyonu — tahminlerin kalıcı kaydı ✔</a:t>
            </a:r>
          </a:p>
          <a:p>
            <a:pPr>
              <a:spcAft>
                <a:spcPts val="1600"/>
              </a:spcAft>
            </a:pPr>
            <a:r>
              <a:rPr sz="2100">
                <a:solidFill>
                  <a:srgbClr val="1B1B2F"/>
                </a:solidFill>
                <a:latin typeface="Calibri"/>
              </a:rPr>
              <a:t>•  GitHub Actions ile tam otomatik CI/CD ✔</a:t>
            </a:r>
          </a:p>
          <a:p>
            <a:pPr>
              <a:spcAft>
                <a:spcPts val="1600"/>
              </a:spcAft>
            </a:pPr>
            <a:r>
              <a:rPr sz="2100">
                <a:solidFill>
                  <a:srgbClr val="1B1B2F"/>
                </a:solidFill>
                <a:latin typeface="Calibri"/>
              </a:rPr>
              <a:t>•  ArgoCD ile GitOps tabanlı sürekli dağıtım ✔</a:t>
            </a:r>
          </a:p>
          <a:p>
            <a:pPr>
              <a:spcAft>
                <a:spcPts val="1600"/>
              </a:spcAft>
            </a:pPr>
            <a:r>
              <a:rPr sz="2100">
                <a:solidFill>
                  <a:srgbClr val="1B1B2F"/>
                </a:solidFill>
                <a:latin typeface="Calibri"/>
              </a:rPr>
              <a:t>•  Prometheus + Grafana ile canlı gözlemlenebilirlik ✔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5669280"/>
            <a:ext cx="10515600" cy="82296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669280"/>
            <a:ext cx="10515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2E863A"/>
                </a:solidFill>
                <a:latin typeface="Calibri"/>
              </a:rPr>
              <a:t>Ana hedef başarıldı: Model uçtan uca çalışır hale getirildi.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Teşekkürler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1">
                <a:solidFill>
                  <a:srgbClr val="9FB4D8"/>
                </a:solidFill>
                <a:latin typeface="Calibri"/>
              </a:rPr>
              <a:t>Sorularınız?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